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2918400" cx="438912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Roboto Medium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747775"/>
          </p15:clr>
        </p15:guide>
        <p15:guide id="2" pos="138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edium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RobotoMedium-italic.fntdata"/><Relationship Id="rId12" Type="http://schemas.openxmlformats.org/officeDocument/2006/relationships/font" Target="fonts/Robot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da4e909b_0_90:notes"/>
          <p:cNvSpPr/>
          <p:nvPr>
            <p:ph idx="2" type="sldImg"/>
          </p:nvPr>
        </p:nvSpPr>
        <p:spPr>
          <a:xfrm>
            <a:off x="114331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da4e909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1pPr>
            <a:lvl2pPr lvl="1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2pPr>
            <a:lvl3pPr lvl="2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3pPr>
            <a:lvl4pPr lvl="3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4pPr>
            <a:lvl5pPr lvl="4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5pPr>
            <a:lvl6pPr lvl="5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6pPr>
            <a:lvl7pPr lvl="6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7pPr>
            <a:lvl8pPr lvl="7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8pPr>
            <a:lvl9pPr lvl="8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3" lvl="1" marL="9144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indent="-702733" lvl="2" marL="13716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indent="-702733" lvl="3" marL="18288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indent="-702733" lvl="4" marL="22860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indent="-702733" lvl="5" marL="27432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indent="-702733" lvl="6" marL="32004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indent="-702733" lvl="7" marL="36576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indent="-702733" lvl="8" marL="41148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2733" lvl="0" marL="4572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2733" lvl="0" marL="4572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3" lvl="1" marL="9144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indent="-702733" lvl="2" marL="13716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indent="-702733" lvl="3" marL="18288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indent="-702733" lvl="4" marL="22860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indent="-702733" lvl="5" marL="27432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indent="-702733" lvl="6" marL="32004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indent="-702733" lvl="7" marL="36576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indent="-702733" lvl="8" marL="41148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3" lvl="1" marL="9144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indent="-702733" lvl="2" marL="13716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indent="-702733" lvl="3" marL="1828800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indent="-702733" lvl="4" marL="22860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indent="-702733" lvl="5" marL="27432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indent="-702733" lvl="6" marL="3200400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indent="-702733" lvl="7" marL="36576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indent="-702733" lvl="8" marL="41148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2733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indent="-70273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indent="-70273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indent="-70273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indent="-70273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indent="-70273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indent="-70273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indent="-70273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3.png"/><Relationship Id="rId13" Type="http://schemas.openxmlformats.org/officeDocument/2006/relationships/image" Target="../media/image6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15" Type="http://schemas.openxmlformats.org/officeDocument/2006/relationships/image" Target="../media/image1.png"/><Relationship Id="rId14" Type="http://schemas.openxmlformats.org/officeDocument/2006/relationships/image" Target="../media/image8.png"/><Relationship Id="rId17" Type="http://schemas.openxmlformats.org/officeDocument/2006/relationships/image" Target="../media/image9.png"/><Relationship Id="rId16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121200" y="18113920"/>
            <a:ext cx="19784100" cy="13209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43891200" cy="56985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406400" y="148000"/>
            <a:ext cx="35078400" cy="29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Timing is Key: Utilizing New Product Forecasting and Optimizing Market Entry to Limit Cannibalization</a:t>
            </a:r>
            <a:endParaRPr b="1" sz="90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9041055" y="3897035"/>
            <a:ext cx="258090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Nikhil Satpathy, Trinity Briggs, Emmanuel Tchonang, Valeria Marin-Gallo </a:t>
            </a:r>
            <a:endParaRPr b="1" sz="4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74000" y="18100800"/>
            <a:ext cx="11720100" cy="13209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478539" y="18284570"/>
            <a:ext cx="11367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33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9712225" y="5977434"/>
            <a:ext cx="13864200" cy="13209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30831025" y="6187834"/>
            <a:ext cx="113673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CB0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60441" y="10331608"/>
            <a:ext cx="14221500" cy="13209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1620045" y="10436235"/>
            <a:ext cx="113673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b="1" sz="48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32331840" y="23901004"/>
            <a:ext cx="11250600" cy="11118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7460" l="12259" r="10052" t="9454"/>
          <a:stretch/>
        </p:blipFill>
        <p:spPr>
          <a:xfrm>
            <a:off x="265462" y="148063"/>
            <a:ext cx="4289378" cy="530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9894" y="1809218"/>
            <a:ext cx="6374634" cy="333071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30621809" y="6092480"/>
            <a:ext cx="119562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Market Entry Findings and Recommendations</a:t>
            </a:r>
            <a:endParaRPr b="1" sz="45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75626" y="18242270"/>
            <a:ext cx="113673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Tree-Based Analytical Model Formulation</a:t>
            </a:r>
            <a:endParaRPr b="1" sz="45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3165716" y="23801804"/>
            <a:ext cx="103911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CB05"/>
                </a:solidFill>
                <a:latin typeface="Roboto Medium"/>
                <a:ea typeface="Roboto Medium"/>
                <a:cs typeface="Roboto Medium"/>
                <a:sym typeface="Roboto Medium"/>
              </a:rPr>
              <a:t>Implementation &amp; Impact</a:t>
            </a:r>
            <a:endParaRPr sz="4800">
              <a:solidFill>
                <a:srgbClr val="FFCB0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5">
            <a:alphaModFix/>
          </a:blip>
          <a:srcRect b="0" l="27373" r="49201" t="0"/>
          <a:stretch/>
        </p:blipFill>
        <p:spPr>
          <a:xfrm>
            <a:off x="1082379" y="21024267"/>
            <a:ext cx="4199100" cy="1995000"/>
          </a:xfrm>
          <a:prstGeom prst="roundRect">
            <a:avLst>
              <a:gd fmla="val 9632" name="adj"/>
            </a:avLst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1321756" y="21328256"/>
            <a:ext cx="36258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75" lIns="59875" spcFirstLastPara="1" rIns="59875" wrap="square" tIns="59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7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Predicted Sales Distributions</a:t>
            </a:r>
            <a:endParaRPr b="1" sz="327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6">
            <a:alphaModFix/>
          </a:blip>
          <a:srcRect b="0" l="27373" r="49201" t="0"/>
          <a:stretch/>
        </p:blipFill>
        <p:spPr>
          <a:xfrm>
            <a:off x="6547143" y="21024267"/>
            <a:ext cx="4199100" cy="1995000"/>
          </a:xfrm>
          <a:prstGeom prst="roundRect">
            <a:avLst>
              <a:gd fmla="val 9632" name="adj"/>
            </a:avLst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7092631" y="21291039"/>
            <a:ext cx="31089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75" lIns="59875" spcFirstLastPara="1" rIns="59875" wrap="square" tIns="59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7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Estimated Total Sales</a:t>
            </a:r>
            <a:endParaRPr b="1" sz="327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992484" y="24529529"/>
            <a:ext cx="80310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9875" lIns="59875" spcFirstLastPara="1" rIns="59875" wrap="square" tIns="598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7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Monthly Sales Forecast</a:t>
            </a:r>
            <a:endParaRPr sz="2933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65497" y="19273790"/>
            <a:ext cx="58320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475" lIns="313475" spcFirstLastPara="1" rIns="313475" wrap="square" tIns="313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7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 </a:t>
            </a:r>
            <a:r>
              <a:rPr lang="en" sz="3276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model </a:t>
            </a:r>
            <a:endParaRPr sz="3276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76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generated</a:t>
            </a:r>
            <a:r>
              <a:rPr b="1" lang="en" sz="327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4990"/>
          </a:p>
        </p:txBody>
      </p:sp>
      <p:sp>
        <p:nvSpPr>
          <p:cNvPr id="76" name="Google Shape;76;p13"/>
          <p:cNvSpPr txBox="1"/>
          <p:nvPr/>
        </p:nvSpPr>
        <p:spPr>
          <a:xfrm>
            <a:off x="5730262" y="19276370"/>
            <a:ext cx="58320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475" lIns="313475" spcFirstLastPara="1" rIns="313475" wrap="square" tIns="313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7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Gradient Boosting </a:t>
            </a:r>
            <a:r>
              <a:rPr lang="en" sz="3276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model</a:t>
            </a:r>
            <a:endParaRPr sz="3276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76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quantified…</a:t>
            </a:r>
            <a:endParaRPr sz="4990"/>
          </a:p>
        </p:txBody>
      </p:sp>
      <p:sp>
        <p:nvSpPr>
          <p:cNvPr id="77" name="Google Shape;77;p13"/>
          <p:cNvSpPr txBox="1"/>
          <p:nvPr/>
        </p:nvSpPr>
        <p:spPr>
          <a:xfrm>
            <a:off x="5463659" y="21170733"/>
            <a:ext cx="843900" cy="1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475" lIns="313475" spcFirstLastPara="1" rIns="313475" wrap="square" tIns="313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4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7200"/>
          </a:p>
        </p:txBody>
      </p:sp>
      <p:cxnSp>
        <p:nvCxnSpPr>
          <p:cNvPr id="78" name="Google Shape;78;p13"/>
          <p:cNvCxnSpPr>
            <a:stCxn id="70" idx="2"/>
          </p:cNvCxnSpPr>
          <p:nvPr/>
        </p:nvCxnSpPr>
        <p:spPr>
          <a:xfrm flipH="1" rot="-5400000">
            <a:off x="3116679" y="23084517"/>
            <a:ext cx="1507200" cy="1376700"/>
          </a:xfrm>
          <a:prstGeom prst="bentConnector3">
            <a:avLst>
              <a:gd fmla="val 50000" name="adj1"/>
            </a:avLst>
          </a:prstGeom>
          <a:noFill/>
          <a:ln cap="flat" cmpd="sng" w="32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/>
          <p:nvPr/>
        </p:nvCxnSpPr>
        <p:spPr>
          <a:xfrm rot="5400000">
            <a:off x="7199617" y="23086074"/>
            <a:ext cx="1507200" cy="1376700"/>
          </a:xfrm>
          <a:prstGeom prst="bentConnector3">
            <a:avLst>
              <a:gd fmla="val 50000" name="adj1"/>
            </a:avLst>
          </a:prstGeom>
          <a:noFill/>
          <a:ln cap="flat" cmpd="sng" w="326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0" name="Google Shape;80;p13" title="Screenshot 2025-11-13 at 3.23.0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18000" y="7539547"/>
            <a:ext cx="12280276" cy="38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/>
        </p:nvSpPr>
        <p:spPr>
          <a:xfrm>
            <a:off x="32599320" y="25280320"/>
            <a:ext cx="10811400" cy="7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How our work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will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 be used:</a:t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The team’s forecasting models will be integrated as an additional data point in the new-product planning process.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Expected improvements in new product forecasting:</a:t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Estimated Year-1 impact: $1–2 million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, driven by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Reduced excess inventory from more accurate forecasting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Incremental sales revenue captured by better anticipating upside demand and having inventory available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5436" y="25151858"/>
            <a:ext cx="11250493" cy="78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32213757" y="18086918"/>
            <a:ext cx="11487000" cy="15072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32523802" y="18292251"/>
            <a:ext cx="113673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Analytical Model Accuracy</a:t>
            </a:r>
            <a:endParaRPr b="1" sz="48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4490454" y="18218540"/>
            <a:ext cx="119562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Cannibalization Results</a:t>
            </a:r>
            <a:endParaRPr b="1" sz="48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-105960" y="6917233"/>
            <a:ext cx="14614500" cy="3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-474132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200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Founded in 1958, they are a leading supplier of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promotional products. </a:t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32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200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Headquartered in Lawrence, MA, they serve some of the world’s largest global corporations, partnering with 40+ suppliers and brands like Samsonite and Moleskine.</a:t>
            </a:r>
            <a:endParaRPr sz="7466"/>
          </a:p>
        </p:txBody>
      </p:sp>
      <p:sp>
        <p:nvSpPr>
          <p:cNvPr id="87" name="Google Shape;87;p13"/>
          <p:cNvSpPr/>
          <p:nvPr/>
        </p:nvSpPr>
        <p:spPr>
          <a:xfrm>
            <a:off x="192911" y="5978623"/>
            <a:ext cx="14221500" cy="13209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727300" y="6083250"/>
            <a:ext cx="113673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b="1" sz="48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-51818" y="11141945"/>
            <a:ext cx="14400000" cy="6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Uncertain New Product Performance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: Gemline faces difficulty forecasting demand for newly introduced SKUs (e.g., bags, drinkware, and totes) due to limited historical data and changing customer preferences.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74132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200"/>
              <a:buFont typeface="Roboto"/>
              <a:buChar char="●"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Market Entry: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 Having a wide variety of products, Gemline currently struggles with identifying the most optimal launch timing for each of their unique product categories and subcategories. 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Potential Cannibalization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: New product launches may reduce sales of existing items within the same category, but Gemline currently lacks a data-driven method to quantify and predict these effects.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570400" y="19533275"/>
            <a:ext cx="14221425" cy="118633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14659083" y="6010080"/>
            <a:ext cx="14705400" cy="1111800"/>
          </a:xfrm>
          <a:prstGeom prst="rect">
            <a:avLst/>
          </a:prstGeom>
          <a:solidFill>
            <a:srgbClr val="00274C"/>
          </a:solidFill>
          <a:ln cap="flat" cmpd="sng" w="9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5760136" y="6033088"/>
            <a:ext cx="119562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CB05"/>
                </a:solidFill>
                <a:latin typeface="Roboto"/>
                <a:ea typeface="Roboto"/>
                <a:cs typeface="Roboto"/>
                <a:sym typeface="Roboto"/>
              </a:rPr>
              <a:t>Market Entry Approach</a:t>
            </a:r>
            <a:endParaRPr b="1" sz="4800">
              <a:solidFill>
                <a:srgbClr val="FFC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3" title="Screenshot 2025-12-02 at 10.07.32 AM.png"/>
          <p:cNvPicPr preferRelativeResize="0"/>
          <p:nvPr/>
        </p:nvPicPr>
        <p:blipFill rotWithShape="1">
          <a:blip r:embed="rId10">
            <a:alphaModFix/>
          </a:blip>
          <a:srcRect b="49728" l="0" r="0" t="0"/>
          <a:stretch/>
        </p:blipFill>
        <p:spPr>
          <a:xfrm>
            <a:off x="14666280" y="13154081"/>
            <a:ext cx="14351649" cy="478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title="Screenshot 2025-12-02 at 10.10.29 AM.png"/>
          <p:cNvPicPr preferRelativeResize="0"/>
          <p:nvPr/>
        </p:nvPicPr>
        <p:blipFill rotWithShape="1">
          <a:blip r:embed="rId11">
            <a:alphaModFix/>
          </a:blip>
          <a:srcRect b="0" l="0" r="0" t="15361"/>
          <a:stretch/>
        </p:blipFill>
        <p:spPr>
          <a:xfrm>
            <a:off x="14731154" y="7236682"/>
            <a:ext cx="4659712" cy="5870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title="Screenshot 2025-12-02 at 10.10.54 AM.png"/>
          <p:cNvPicPr preferRelativeResize="0"/>
          <p:nvPr/>
        </p:nvPicPr>
        <p:blipFill rotWithShape="1">
          <a:blip r:embed="rId12">
            <a:alphaModFix/>
          </a:blip>
          <a:srcRect b="0" l="0" r="15511" t="0"/>
          <a:stretch/>
        </p:blipFill>
        <p:spPr>
          <a:xfrm>
            <a:off x="19494666" y="7152792"/>
            <a:ext cx="4492956" cy="58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3"/>
          <p:cNvGrpSpPr/>
          <p:nvPr/>
        </p:nvGrpSpPr>
        <p:grpSpPr>
          <a:xfrm>
            <a:off x="25151880" y="7185850"/>
            <a:ext cx="3802034" cy="5806316"/>
            <a:chOff x="2182125" y="2786800"/>
            <a:chExt cx="916550" cy="1049796"/>
          </a:xfrm>
        </p:grpSpPr>
        <p:pic>
          <p:nvPicPr>
            <p:cNvPr id="97" name="Google Shape;97;p13" title="Screenshot 2025-12-02 at 10.12.28 AM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182125" y="2786800"/>
              <a:ext cx="916550" cy="24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3" title="Screenshot 2025-12-02 at 10.13.01 AM.png"/>
            <p:cNvPicPr preferRelativeResize="0"/>
            <p:nvPr/>
          </p:nvPicPr>
          <p:blipFill rotWithShape="1">
            <a:blip r:embed="rId14">
              <a:alphaModFix/>
            </a:blip>
            <a:srcRect b="2657" l="0" r="0" t="0"/>
            <a:stretch/>
          </p:blipFill>
          <p:spPr>
            <a:xfrm>
              <a:off x="2210319" y="3017700"/>
              <a:ext cx="857250" cy="818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" name="Google Shape;99;p13" title="Screenshot 2025-12-02 at 10.14.36 AM.png"/>
          <p:cNvPicPr preferRelativeResize="0"/>
          <p:nvPr/>
        </p:nvPicPr>
        <p:blipFill rotWithShape="1">
          <a:blip r:embed="rId15">
            <a:alphaModFix/>
          </a:blip>
          <a:srcRect b="0" l="0" r="7621" t="21457"/>
          <a:stretch/>
        </p:blipFill>
        <p:spPr>
          <a:xfrm>
            <a:off x="23987591" y="10928879"/>
            <a:ext cx="1190384" cy="3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25457400" y="19157124"/>
            <a:ext cx="7030200" cy="9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Heatmap analysis included comparing the sales of items across varying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colors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brands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 in the same category + subcategory grouping. 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Further quantified cannibalization by:</a:t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● 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aking a smoothed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rolling average</a:t>
            </a: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 of sales to account for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seasonality</a:t>
            </a:r>
            <a:endParaRPr b="1"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● Then, tabulating instances where sales decreased by greater than </a:t>
            </a:r>
            <a:r>
              <a:rPr b="1"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r>
              <a:rPr b="1" lang="en" sz="3733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𝜎</a:t>
            </a:r>
            <a:endParaRPr b="1" sz="3733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33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2144998" y="19253015"/>
            <a:ext cx="11720100" cy="4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Our model was able to generate 7 subcategory forecast predictions with an accuracy ≥ 75% and 12 subcategory forecast predictions with an accuracy ≥ 65%.</a:t>
            </a:r>
            <a:endParaRPr sz="3200">
              <a:solidFill>
                <a:srgbClr val="00274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733"/>
              <a:buFont typeface="Roboto"/>
              <a:buChar char="●"/>
            </a:pPr>
            <a:r>
              <a:rPr lang="en" sz="3200">
                <a:solidFill>
                  <a:srgbClr val="00274C"/>
                </a:solidFill>
                <a:latin typeface="Roboto"/>
                <a:ea typeface="Roboto"/>
                <a:cs typeface="Roboto"/>
                <a:sym typeface="Roboto"/>
              </a:rPr>
              <a:t>Top 5 highest performing subcategory predictions had the following accuracies: 91.67%, 83.33%, 75.83%, 75%, and 75%. </a:t>
            </a:r>
            <a:endParaRPr sz="746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9336040" y="11301613"/>
            <a:ext cx="14400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-499532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Char char="●"/>
            </a:pP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market entry analysis </a:t>
            </a: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identified</a:t>
            </a: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 subcategories</a:t>
            </a:r>
            <a:r>
              <a:rPr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which there was a 100%  confidence of what the month with the highest amount of sales would be</a:t>
            </a:r>
            <a:endParaRPr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5762926" y="27678496"/>
            <a:ext cx="6374635" cy="402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title="Screenshot 2025-12-02 at 6.59.34 P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117950" y="14082948"/>
            <a:ext cx="5831999" cy="29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35949960" y="13505515"/>
            <a:ext cx="7410300" cy="38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spAutoFit/>
          </a:bodyPr>
          <a:lstStyle/>
          <a:p>
            <a:pPr indent="-507999" lvl="0" marL="4741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Roboto"/>
              <a:buChar char="●"/>
            </a:pPr>
            <a:r>
              <a:rPr lang="en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market entry analysis identified 31 categories in which there was a 66+ %  confidence of what the month with the highest amount of sales would be</a:t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